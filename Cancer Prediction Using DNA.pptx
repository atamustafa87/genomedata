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DM Sans Medium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Merriweather"/>
      <p:regular r:id="rId33"/>
      <p:bold r:id="rId34"/>
      <p:italic r:id="rId35"/>
      <p:boldItalic r:id="rId36"/>
    </p:embeddedFont>
    <p:embeddedFont>
      <p:font typeface="DM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i29WqsDARAGW++oxVbWtTjLkYB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B99AE7-CA2E-4393-958D-D88E613C12B0}">
  <a:tblStyle styleId="{3AB99AE7-CA2E-4393-958D-D88E613C12B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Medium-bold.fntdata"/><Relationship Id="rId25" Type="http://schemas.openxmlformats.org/officeDocument/2006/relationships/font" Target="fonts/DMSansMedium-regular.fntdata"/><Relationship Id="rId28" Type="http://schemas.openxmlformats.org/officeDocument/2006/relationships/font" Target="fonts/DMSansMedium-boldItalic.fntdata"/><Relationship Id="rId27" Type="http://schemas.openxmlformats.org/officeDocument/2006/relationships/font" Target="fonts/DMSans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9.xml"/><Relationship Id="rId37" Type="http://schemas.openxmlformats.org/officeDocument/2006/relationships/font" Target="fonts/DMSans-regular.fntdata"/><Relationship Id="rId14" Type="http://schemas.openxmlformats.org/officeDocument/2006/relationships/slide" Target="slides/slide8.xml"/><Relationship Id="rId36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39" Type="http://schemas.openxmlformats.org/officeDocument/2006/relationships/font" Target="fonts/DMSans-italic.fntdata"/><Relationship Id="rId16" Type="http://schemas.openxmlformats.org/officeDocument/2006/relationships/slide" Target="slides/slide10.xml"/><Relationship Id="rId38" Type="http://schemas.openxmlformats.org/officeDocument/2006/relationships/font" Target="fonts/DM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Here’s a comprehensive pipeline for detecting mutations from a DNA sequence file: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 1: Raw DNA Sequence Preprocessing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Prepare raw DNA sequence data for analysis by quality control and alignment.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DNA sequence file (e.g., FASTQ format).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Aligned sequence file (e.g., BAM format).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Steps and Tools: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Quality Control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Remove low-quality reads and adapters.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FastQC</a:t>
            </a:r>
            <a:r>
              <a:rPr lang="en">
                <a:solidFill>
                  <a:schemeClr val="dk1"/>
                </a:solidFill>
              </a:rPr>
              <a:t> (for quality assessment), </a:t>
            </a:r>
            <a:r>
              <a:rPr b="1" lang="en">
                <a:solidFill>
                  <a:schemeClr val="dk1"/>
                </a:solidFill>
              </a:rPr>
              <a:t>Trim Galore</a:t>
            </a:r>
            <a:r>
              <a:rPr lang="en">
                <a:solidFill>
                  <a:schemeClr val="dk1"/>
                </a:solidFill>
              </a:rPr>
              <a:t> (for trimming).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FASTQ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Cleaned FASTQ file.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Alignment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Map DNA reads to a reference genome.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BWA-MEM</a:t>
            </a:r>
            <a:r>
              <a:rPr lang="en">
                <a:solidFill>
                  <a:schemeClr val="dk1"/>
                </a:solidFill>
              </a:rPr>
              <a:t> (alignment algorithm).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Cleaned FASTQ file, reference genome.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SAM file (sequence alignment map).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SAM to BAM Conversion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Compress and sort the alignment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SAMtools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SAM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Sorted BAM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 2: Post-Alignment Processing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Refine the aligned data to ensure high accuracy in mutation detection.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Sorted BAM file.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Refined BAM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Steps and Tools: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Mark Duplicates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Identify and flag duplicate reads to avoid false positives.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Picard Tools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Sorted BAM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BAM file with duplicates marked.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Base Quality Score Recalibration (BQSR)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Adjust quality scores for systematic biases.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GATK BaseRecalibrator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BAM file, reference genome, known variants.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Recalibrated BAM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 3: Mutation Calling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Detect variants (e.g., SNPs, insertions, deletions) in the DNA sequence.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Recalibrated BAM file.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Variant Call Format (VCF)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Steps and Tools: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Variant Calling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Identify potential mutations.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GATK HaplotypeCaller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FreeBayes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Recalibrated BAM file, reference genome.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Raw VCF file.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Variant Filtering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Remove low-quality or spurious variants.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GATK VariantFiltration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Raw VCF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Filtered VCF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 4: Variant Annotation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Annotate variants with biological and clinical significance.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Filtered VCF file.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Annotated VCF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Steps and Tools: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Annotation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Link variants to genes, diseases, and pathways.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ANNOVAR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SnpEff</a:t>
            </a:r>
            <a:r>
              <a:rPr lang="en">
                <a:solidFill>
                  <a:schemeClr val="dk1"/>
                </a:solidFill>
              </a:rPr>
              <a:t>, or </a:t>
            </a:r>
            <a:r>
              <a:rPr b="1" lang="en">
                <a:solidFill>
                  <a:schemeClr val="dk1"/>
                </a:solidFill>
              </a:rPr>
              <a:t>Ensembl VEP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Filtered VCF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Annotated VCF file or tabular report.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 5: Mutation Interpretation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Analyze annotated mutations for relevance to breast cancer.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Annotated VCF file.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List of actionable mutations with clinical significance.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Steps and Tools: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Variant Prioritization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Focus on mutations linked to breast cancer (e.g., BRCA1/BRCA2).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Tool:</a:t>
            </a:r>
            <a:r>
              <a:rPr lang="en">
                <a:solidFill>
                  <a:schemeClr val="dk1"/>
                </a:solidFill>
              </a:rPr>
              <a:t> Custom scripts or databases like </a:t>
            </a:r>
            <a:r>
              <a:rPr b="1" lang="en">
                <a:solidFill>
                  <a:schemeClr val="dk1"/>
                </a:solidFill>
              </a:rPr>
              <a:t>ClinVar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COSMIC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Input:</a:t>
            </a:r>
            <a:r>
              <a:rPr lang="en">
                <a:solidFill>
                  <a:schemeClr val="dk1"/>
                </a:solidFill>
              </a:rPr>
              <a:t> Annotated VCF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Output:</a:t>
            </a:r>
            <a:r>
              <a:rPr lang="en">
                <a:solidFill>
                  <a:schemeClr val="dk1"/>
                </a:solidFill>
              </a:rPr>
              <a:t> Final report on relevant mutations.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0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" name="Google Shape;14;p2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22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4" name="Google Shape;24;p22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" name="Google Shape;28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" name="Google Shape;55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63" name="Google Shape;63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" name="Google Shape;71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" name="Google Shape;72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" name="Google Shape;73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" name="Google Shape;79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" name="Google Shape;87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3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" name="Google Shape;95;p3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" name="Google Shape;96;p3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2" name="Google Shape;102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" name="Google Shape;104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" name="Google Shape;105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0" name="Google Shape;11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9" name="Google Shape;119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3" name="Google Shape;123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6" name="Google Shape;126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0" name="Google Shape;130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5" name="Google Shape;1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0" name="Google Shape;15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4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4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3" name="Google Shape;153;p4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4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" name="Google Shape;155;p4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4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60" name="Google Shape;160;p4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4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4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65" name="Google Shape;165;p4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4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4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4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2" name="Google Shape;172;p47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4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47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8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4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4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0" name="Google Shape;180;p48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1" name="Google Shape;181;p4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49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185" name="Google Shape;185;p49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186" name="Google Shape;186;p49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187" name="Google Shape;187;p49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188" name="Google Shape;188;p49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189" name="Google Shape;189;p49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190" name="Google Shape;190;p49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191" name="Google Shape;191;p49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192" name="Google Shape;192;p49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193" name="Google Shape;193;p49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194" name="Google Shape;194;p49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195" name="Google Shape;195;p49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196" name="Google Shape;196;p49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197" name="Google Shape;197;p49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198" name="Google Shape;198;p49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199" name="Google Shape;199;p49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200" name="Google Shape;200;p49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201" name="Google Shape;201;p49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202" name="Google Shape;202;p49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203" name="Google Shape;203;p49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204" name="Google Shape;204;p49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205" name="Google Shape;205;p49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206" name="Google Shape;206;p49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207" name="Google Shape;207;p49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208" name="Google Shape;208;p49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/>
        </p:txBody>
      </p:sp>
      <p:sp>
        <p:nvSpPr>
          <p:cNvPr id="209" name="Google Shape;209;p49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</a:lstStyle>
          <a:p/>
        </p:txBody>
      </p:sp>
      <p:sp>
        <p:nvSpPr>
          <p:cNvPr id="210" name="Google Shape;210;p49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211" name="Google Shape;211;p49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  <p:sp>
        <p:nvSpPr>
          <p:cNvPr id="212" name="Google Shape;212;p49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i="0" sz="3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b="0" i="0" sz="8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4.jpg"/><Relationship Id="rId5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"/>
          <p:cNvSpPr txBox="1"/>
          <p:nvPr>
            <p:ph type="ctrTitle"/>
          </p:nvPr>
        </p:nvSpPr>
        <p:spPr>
          <a:xfrm>
            <a:off x="196950" y="596350"/>
            <a:ext cx="80118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750"/>
              <a:buNone/>
            </a:pPr>
            <a:r>
              <a:rPr lang="en" sz="4150"/>
              <a:t>Cancer Prediction Using DNA</a:t>
            </a:r>
            <a:endParaRPr sz="4150"/>
          </a:p>
        </p:txBody>
      </p:sp>
      <p:sp>
        <p:nvSpPr>
          <p:cNvPr id="218" name="Google Shape;218;p1"/>
          <p:cNvSpPr txBox="1"/>
          <p:nvPr>
            <p:ph idx="2" type="subTitle"/>
          </p:nvPr>
        </p:nvSpPr>
        <p:spPr>
          <a:xfrm>
            <a:off x="196950" y="2171250"/>
            <a:ext cx="41175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"/>
              <a:t>Breast Cancer Prediction Using DNA Mutations</a:t>
            </a:r>
            <a:endParaRPr/>
          </a:p>
        </p:txBody>
      </p:sp>
      <p:sp>
        <p:nvSpPr>
          <p:cNvPr id="219" name="Google Shape;219;p1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Blue and green wave pattern. " id="220" name="Google Shape;220;p1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96" l="0" r="0" t="797"/>
          <a:stretch/>
        </p:blipFill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2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7" name="Google Shape;227;p2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228" name="Google Shape;228;p2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9" name="Google Shape;229;p2"/>
          <p:cNvSpPr txBox="1"/>
          <p:nvPr/>
        </p:nvSpPr>
        <p:spPr>
          <a:xfrm>
            <a:off x="516424" y="1584300"/>
            <a:ext cx="7545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Cancer Prediction Techniques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0" name="Google Shape;230;p2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DNA &amp; Mutations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1" name="Google Shape;231;p2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Progress So Far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2" name="Google Shape;232;p2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3" name="Google Shape;233;p2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4" name="Google Shape;234;p2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5" name="Google Shape;235;p2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42" name="Google Shape;242;p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4" name="Google Shape;244;p3"/>
          <p:cNvSpPr txBox="1"/>
          <p:nvPr/>
        </p:nvSpPr>
        <p:spPr>
          <a:xfrm>
            <a:off x="516424" y="1584300"/>
            <a:ext cx="7545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Cancer Prediction Techniques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5" name="Google Shape;245;p3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DNA &amp; Mutations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6" name="Google Shape;246;p3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Progress So Far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7" name="Google Shape;247;p3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8" name="Google Shape;248;p3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9" name="Google Shape;249;p3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0" name="Google Shape;250;p3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"/>
          <p:cNvSpPr txBox="1"/>
          <p:nvPr>
            <p:ph type="title"/>
          </p:nvPr>
        </p:nvSpPr>
        <p:spPr>
          <a:xfrm>
            <a:off x="197375" y="800175"/>
            <a:ext cx="31518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256" name="Google Shape;256;p4"/>
          <p:cNvSpPr txBox="1"/>
          <p:nvPr>
            <p:ph idx="1" type="body"/>
          </p:nvPr>
        </p:nvSpPr>
        <p:spPr>
          <a:xfrm>
            <a:off x="334050" y="2076100"/>
            <a:ext cx="30864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 sz="1700"/>
              <a:t>To develop a tool for breast cancer prediction using DNA mutations</a:t>
            </a:r>
            <a:endParaRPr sz="1700"/>
          </a:p>
        </p:txBody>
      </p:sp>
      <p:sp>
        <p:nvSpPr>
          <p:cNvPr id="257" name="Google Shape;25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308" r="9309" t="0"/>
          <a:stretch/>
        </p:blipFill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59" name="Google Shape;259;p4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Project Overview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308" r="9309" t="0"/>
          <a:stretch/>
        </p:blipFill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66" name="Google Shape;266;p5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267" name="Google Shape;267;p5"/>
          <p:cNvSpPr txBox="1"/>
          <p:nvPr>
            <p:ph type="title"/>
          </p:nvPr>
        </p:nvSpPr>
        <p:spPr>
          <a:xfrm>
            <a:off x="337625" y="1278113"/>
            <a:ext cx="3151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2550"/>
              <a:t>Why this matters?</a:t>
            </a:r>
            <a:endParaRPr sz="2550"/>
          </a:p>
        </p:txBody>
      </p:sp>
      <p:sp>
        <p:nvSpPr>
          <p:cNvPr id="268" name="Google Shape;268;p5"/>
          <p:cNvSpPr txBox="1"/>
          <p:nvPr>
            <p:ph idx="1" type="body"/>
          </p:nvPr>
        </p:nvSpPr>
        <p:spPr>
          <a:xfrm>
            <a:off x="197375" y="2289175"/>
            <a:ext cx="34323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●"/>
            </a:pPr>
            <a:r>
              <a:rPr lang="en" sz="1500"/>
              <a:t>Early detection saves lives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Char char="●"/>
            </a:pPr>
            <a:r>
              <a:rPr lang="en" sz="1500"/>
              <a:t>DNA mutations offer specific and actionable insights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75" name="Google Shape;275;p6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516424" y="1584300"/>
            <a:ext cx="7545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Cancer Prediction Techniques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DNA &amp; Mutations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Progress So Far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"/>
          <p:cNvSpPr txBox="1"/>
          <p:nvPr>
            <p:ph type="title"/>
          </p:nvPr>
        </p:nvSpPr>
        <p:spPr>
          <a:xfrm>
            <a:off x="209850" y="345500"/>
            <a:ext cx="8262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3150"/>
              <a:t>Imaging-Based Techniques</a:t>
            </a:r>
            <a:endParaRPr sz="3150"/>
          </a:p>
        </p:txBody>
      </p:sp>
      <p:sp>
        <p:nvSpPr>
          <p:cNvPr id="289" name="Google Shape;289;p7"/>
          <p:cNvSpPr txBox="1"/>
          <p:nvPr>
            <p:ph idx="1" type="body"/>
          </p:nvPr>
        </p:nvSpPr>
        <p:spPr>
          <a:xfrm>
            <a:off x="309150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X-ray imaging of the breast to detect abnormalities.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Non-invasive, widely used for routine screening.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Limited sensitivity in dense breast tissue, can lead to false positives/negatives.</a:t>
            </a:r>
            <a:endParaRPr/>
          </a:p>
        </p:txBody>
      </p:sp>
      <p:sp>
        <p:nvSpPr>
          <p:cNvPr id="290" name="Google Shape;29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1" name="Google Shape;291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221" r="9231" t="0"/>
          <a:stretch/>
        </p:blipFill>
        <p:spPr>
          <a:xfrm>
            <a:off x="309150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92" name="Google Shape;292;p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Cancer Prediction Techniques</a:t>
            </a:r>
            <a:endParaRPr/>
          </a:p>
        </p:txBody>
      </p:sp>
      <p:sp>
        <p:nvSpPr>
          <p:cNvPr id="293" name="Google Shape;293;p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Science Presentation</a:t>
            </a:r>
            <a:endParaRPr/>
          </a:p>
        </p:txBody>
      </p:sp>
      <p:pic>
        <p:nvPicPr>
          <p:cNvPr id="294" name="Google Shape;294;p7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6041" l="0" r="0" t="16041"/>
          <a:stretch/>
        </p:blipFill>
        <p:spPr>
          <a:xfrm>
            <a:off x="3363103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95" name="Google Shape;295;p7"/>
          <p:cNvSpPr txBox="1"/>
          <p:nvPr>
            <p:ph idx="1" type="body"/>
          </p:nvPr>
        </p:nvSpPr>
        <p:spPr>
          <a:xfrm>
            <a:off x="3324488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Uses sound waves to produce images of breast tissue.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Effective for dense breasts; complementary to mammography.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Operator-dependent and less effective for detecting microcalcifications.</a:t>
            </a:r>
            <a:endParaRPr/>
          </a:p>
        </p:txBody>
      </p:sp>
      <p:pic>
        <p:nvPicPr>
          <p:cNvPr id="296" name="Google Shape;296;p7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2516" r="2525" t="0"/>
          <a:stretch/>
        </p:blipFill>
        <p:spPr>
          <a:xfrm>
            <a:off x="6417056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97" name="Google Shape;297;p7"/>
          <p:cNvSpPr txBox="1"/>
          <p:nvPr>
            <p:ph idx="1" type="body"/>
          </p:nvPr>
        </p:nvSpPr>
        <p:spPr>
          <a:xfrm>
            <a:off x="6386100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Produces detailed breast images using magnetic fields and radio waves.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High sensitivity; useful for high-risk patients.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Expensive, not ideal for routine screening.</a:t>
            </a:r>
            <a:endParaRPr/>
          </a:p>
        </p:txBody>
      </p:sp>
      <p:sp>
        <p:nvSpPr>
          <p:cNvPr id="298" name="Google Shape;298;p7"/>
          <p:cNvSpPr txBox="1"/>
          <p:nvPr>
            <p:ph type="title"/>
          </p:nvPr>
        </p:nvSpPr>
        <p:spPr>
          <a:xfrm>
            <a:off x="309150" y="1125250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2050"/>
              <a:t>X-Ray</a:t>
            </a:r>
            <a:endParaRPr sz="2050"/>
          </a:p>
        </p:txBody>
      </p:sp>
      <p:sp>
        <p:nvSpPr>
          <p:cNvPr id="299" name="Google Shape;299;p7"/>
          <p:cNvSpPr txBox="1"/>
          <p:nvPr>
            <p:ph type="title"/>
          </p:nvPr>
        </p:nvSpPr>
        <p:spPr>
          <a:xfrm>
            <a:off x="3363100" y="1082175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2050"/>
              <a:t>Ultrasound</a:t>
            </a:r>
            <a:endParaRPr sz="2050"/>
          </a:p>
        </p:txBody>
      </p:sp>
      <p:sp>
        <p:nvSpPr>
          <p:cNvPr id="300" name="Google Shape;300;p7"/>
          <p:cNvSpPr txBox="1"/>
          <p:nvPr>
            <p:ph type="title"/>
          </p:nvPr>
        </p:nvSpPr>
        <p:spPr>
          <a:xfrm>
            <a:off x="6386100" y="1082175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2050"/>
              <a:t>MRI</a:t>
            </a:r>
            <a:endParaRPr sz="2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 txBox="1"/>
          <p:nvPr>
            <p:ph type="title"/>
          </p:nvPr>
        </p:nvSpPr>
        <p:spPr>
          <a:xfrm>
            <a:off x="209850" y="345500"/>
            <a:ext cx="8262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3150"/>
              <a:t>Biopsy-Based Techniques</a:t>
            </a:r>
            <a:endParaRPr sz="3150"/>
          </a:p>
        </p:txBody>
      </p:sp>
      <p:sp>
        <p:nvSpPr>
          <p:cNvPr id="306" name="Google Shape;306;p8"/>
          <p:cNvSpPr txBox="1"/>
          <p:nvPr>
            <p:ph idx="1" type="body"/>
          </p:nvPr>
        </p:nvSpPr>
        <p:spPr>
          <a:xfrm>
            <a:off x="309150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Thin needle extracts a small sample of tissue or fluid for analysis.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Minimally invasive, quick.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May not provide sufficient information for a definitive diagnosis.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8" name="Google Shape;308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916" l="0" r="0" t="14923"/>
          <a:stretch/>
        </p:blipFill>
        <p:spPr>
          <a:xfrm>
            <a:off x="309150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09" name="Google Shape;309;p8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Cancer Prediction Techniques</a:t>
            </a:r>
            <a:endParaRPr/>
          </a:p>
        </p:txBody>
      </p:sp>
      <p:sp>
        <p:nvSpPr>
          <p:cNvPr id="310" name="Google Shape;310;p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Science Presentation</a:t>
            </a:r>
            <a:endParaRPr/>
          </a:p>
        </p:txBody>
      </p:sp>
      <p:pic>
        <p:nvPicPr>
          <p:cNvPr id="311" name="Google Shape;311;p8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4313" r="4303" t="0"/>
          <a:stretch/>
        </p:blipFill>
        <p:spPr>
          <a:xfrm>
            <a:off x="3363103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12" name="Google Shape;312;p8"/>
          <p:cNvSpPr txBox="1"/>
          <p:nvPr>
            <p:ph idx="1" type="body"/>
          </p:nvPr>
        </p:nvSpPr>
        <p:spPr>
          <a:xfrm>
            <a:off x="3324488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Larger needle extracts tissue samples for more detailed analysis.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Higher accuracy compared to FNA.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Slightly more invasive than FNA.</a:t>
            </a:r>
            <a:endParaRPr/>
          </a:p>
        </p:txBody>
      </p:sp>
      <p:pic>
        <p:nvPicPr>
          <p:cNvPr id="313" name="Google Shape;313;p8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2426" r="2434" t="0"/>
          <a:stretch/>
        </p:blipFill>
        <p:spPr>
          <a:xfrm>
            <a:off x="6417056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14" name="Google Shape;314;p8"/>
          <p:cNvSpPr txBox="1"/>
          <p:nvPr>
            <p:ph idx="1" type="body"/>
          </p:nvPr>
        </p:nvSpPr>
        <p:spPr>
          <a:xfrm>
            <a:off x="6386100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Removal of part or all of a suspicious lump for examination.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Provides the most comprehensive results.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Invasive and requires recovery time.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 txBox="1"/>
          <p:nvPr>
            <p:ph type="title"/>
          </p:nvPr>
        </p:nvSpPr>
        <p:spPr>
          <a:xfrm>
            <a:off x="309150" y="1125250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1350"/>
              <a:t>Fine Needle Aspiration</a:t>
            </a:r>
            <a:endParaRPr sz="1350"/>
          </a:p>
        </p:txBody>
      </p:sp>
      <p:sp>
        <p:nvSpPr>
          <p:cNvPr id="316" name="Google Shape;316;p8"/>
          <p:cNvSpPr txBox="1"/>
          <p:nvPr>
            <p:ph type="title"/>
          </p:nvPr>
        </p:nvSpPr>
        <p:spPr>
          <a:xfrm>
            <a:off x="3363100" y="1082175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1350"/>
              <a:t>Core Needle Biopsy</a:t>
            </a:r>
            <a:endParaRPr sz="1350"/>
          </a:p>
        </p:txBody>
      </p:sp>
      <p:sp>
        <p:nvSpPr>
          <p:cNvPr id="317" name="Google Shape;317;p8"/>
          <p:cNvSpPr txBox="1"/>
          <p:nvPr>
            <p:ph type="title"/>
          </p:nvPr>
        </p:nvSpPr>
        <p:spPr>
          <a:xfrm>
            <a:off x="6386100" y="1082175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1350"/>
              <a:t>Surgical Biopsy</a:t>
            </a:r>
            <a:endParaRPr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/>
          <p:cNvSpPr txBox="1"/>
          <p:nvPr>
            <p:ph type="title"/>
          </p:nvPr>
        </p:nvSpPr>
        <p:spPr>
          <a:xfrm>
            <a:off x="209850" y="345500"/>
            <a:ext cx="8262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3150"/>
              <a:t>Genetic and Molecular Techniques</a:t>
            </a:r>
            <a:endParaRPr sz="3150"/>
          </a:p>
        </p:txBody>
      </p:sp>
      <p:sp>
        <p:nvSpPr>
          <p:cNvPr id="323" name="Google Shape;323;p9"/>
          <p:cNvSpPr txBox="1"/>
          <p:nvPr>
            <p:ph idx="1" type="body"/>
          </p:nvPr>
        </p:nvSpPr>
        <p:spPr>
          <a:xfrm>
            <a:off x="309150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Identifies specific mutations in genes like BRCA1 and BRCA2 linked to breast cancer.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Highly precise; enables personalized treatment.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Requires access to genetic data and expertise in interpretation.</a:t>
            </a:r>
            <a:endParaRPr b="1"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5" name="Google Shape;325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86" r="1586" t="0"/>
          <a:stretch/>
        </p:blipFill>
        <p:spPr>
          <a:xfrm>
            <a:off x="309150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26" name="Google Shape;326;p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Cancer Prediction Techniques</a:t>
            </a:r>
            <a:endParaRPr/>
          </a:p>
        </p:txBody>
      </p:sp>
      <p:sp>
        <p:nvSpPr>
          <p:cNvPr id="327" name="Google Shape;327;p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Science Presentation</a:t>
            </a:r>
            <a:endParaRPr/>
          </a:p>
        </p:txBody>
      </p:sp>
      <p:pic>
        <p:nvPicPr>
          <p:cNvPr id="328" name="Google Shape;328;p9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8346" l="0" r="0" t="8354"/>
          <a:stretch/>
        </p:blipFill>
        <p:spPr>
          <a:xfrm>
            <a:off x="3363103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29" name="Google Shape;329;p9"/>
          <p:cNvSpPr txBox="1"/>
          <p:nvPr>
            <p:ph idx="1" type="body"/>
          </p:nvPr>
        </p:nvSpPr>
        <p:spPr>
          <a:xfrm>
            <a:off x="3324488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Combines the effects of multiple genetic variants to predict cancer risk.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Provides a broader risk estimate.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Lacks specificity for individual mutations.</a:t>
            </a:r>
            <a:endParaRPr b="1"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9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16018" l="0" r="0" t="16013"/>
          <a:stretch/>
        </p:blipFill>
        <p:spPr>
          <a:xfrm>
            <a:off x="6417056" y="1568650"/>
            <a:ext cx="2198700" cy="1542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31" name="Google Shape;331;p9"/>
          <p:cNvSpPr txBox="1"/>
          <p:nvPr>
            <p:ph idx="1" type="body"/>
          </p:nvPr>
        </p:nvSpPr>
        <p:spPr>
          <a:xfrm>
            <a:off x="6386100" y="3197475"/>
            <a:ext cx="23643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Detects cancer cells or DNA fragments in blood samples.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Minimally invasive; potential for early detection.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b="1"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r>
              <a:rPr lang="en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Limited by current technology’s sensitivity and specificity.</a:t>
            </a:r>
            <a:endParaRPr b="1"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 txBox="1"/>
          <p:nvPr>
            <p:ph type="title"/>
          </p:nvPr>
        </p:nvSpPr>
        <p:spPr>
          <a:xfrm>
            <a:off x="309150" y="1125250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1350">
                <a:solidFill>
                  <a:srgbClr val="990000"/>
                </a:solidFill>
              </a:rPr>
              <a:t>DNA Mutation Analysis</a:t>
            </a:r>
            <a:endParaRPr sz="1350">
              <a:solidFill>
                <a:srgbClr val="990000"/>
              </a:solidFill>
            </a:endParaRPr>
          </a:p>
        </p:txBody>
      </p:sp>
      <p:sp>
        <p:nvSpPr>
          <p:cNvPr id="333" name="Google Shape;333;p9"/>
          <p:cNvSpPr txBox="1"/>
          <p:nvPr>
            <p:ph type="title"/>
          </p:nvPr>
        </p:nvSpPr>
        <p:spPr>
          <a:xfrm>
            <a:off x="3363100" y="1082175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1350"/>
              <a:t>Polygenic Risk Score</a:t>
            </a:r>
            <a:endParaRPr sz="1350"/>
          </a:p>
        </p:txBody>
      </p:sp>
      <p:sp>
        <p:nvSpPr>
          <p:cNvPr id="334" name="Google Shape;334;p9"/>
          <p:cNvSpPr txBox="1"/>
          <p:nvPr>
            <p:ph type="title"/>
          </p:nvPr>
        </p:nvSpPr>
        <p:spPr>
          <a:xfrm>
            <a:off x="6386100" y="1082175"/>
            <a:ext cx="219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 sz="1350"/>
              <a:t>Liquid Biopsy</a:t>
            </a:r>
            <a:endParaRPr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10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41" name="Google Shape;341;p10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516424" y="1584300"/>
            <a:ext cx="7545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Cancer Prediction Techniques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DNA &amp; Mutations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Progress So Far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/>
              <a:t>Deoxyribo-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/>
              <a:t>nucleic acid (DNA)</a:t>
            </a:r>
            <a:endParaRPr/>
          </a:p>
        </p:txBody>
      </p:sp>
      <p:sp>
        <p:nvSpPr>
          <p:cNvPr id="355" name="Google Shape;355;p11"/>
          <p:cNvSpPr txBox="1"/>
          <p:nvPr>
            <p:ph idx="1" type="body"/>
          </p:nvPr>
        </p:nvSpPr>
        <p:spPr>
          <a:xfrm>
            <a:off x="197375" y="2779450"/>
            <a:ext cx="35289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Blueprint of life: A sequence of nucleotides (A, T, G, C).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lang="en" sz="1400"/>
              <a:t>Contains genetic information for the development, growth, and reproduction of organisms</a:t>
            </a:r>
            <a:endParaRPr sz="1400"/>
          </a:p>
        </p:txBody>
      </p:sp>
      <p:sp>
        <p:nvSpPr>
          <p:cNvPr id="356" name="Google Shape;3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7" name="Google Shape;357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161" l="0" r="0" t="11162"/>
          <a:stretch/>
        </p:blipFill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58" name="Google Shape;358;p11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DNA &amp; Mutations</a:t>
            </a:r>
            <a:endParaRPr/>
          </a:p>
        </p:txBody>
      </p:sp>
      <p:sp>
        <p:nvSpPr>
          <p:cNvPr id="359" name="Google Shape;359;p11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Science Presentation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/>
              <a:t>DNA Mutations</a:t>
            </a:r>
            <a:endParaRPr/>
          </a:p>
        </p:txBody>
      </p:sp>
      <p:sp>
        <p:nvSpPr>
          <p:cNvPr id="365" name="Google Shape;365;p12"/>
          <p:cNvSpPr txBox="1"/>
          <p:nvPr>
            <p:ph idx="1" type="body"/>
          </p:nvPr>
        </p:nvSpPr>
        <p:spPr>
          <a:xfrm>
            <a:off x="197375" y="2779450"/>
            <a:ext cx="35289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400"/>
              <a:t>Changes in the DNA sequence.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lang="en" sz="1400"/>
              <a:t>Examples: Substitutions, insertions, deletions.</a:t>
            </a:r>
            <a:endParaRPr sz="1400"/>
          </a:p>
        </p:txBody>
      </p:sp>
      <p:sp>
        <p:nvSpPr>
          <p:cNvPr id="366" name="Google Shape;36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7" name="Google Shape;367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532" r="8541" t="0"/>
          <a:stretch/>
        </p:blipFill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68" name="Google Shape;368;p12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DNA &amp; Mutations</a:t>
            </a:r>
            <a:endParaRPr/>
          </a:p>
        </p:txBody>
      </p:sp>
      <p:sp>
        <p:nvSpPr>
          <p:cNvPr id="369" name="Google Shape;369;p12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Science Presentation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/>
              <a:t>Mutation Importance</a:t>
            </a:r>
            <a:endParaRPr/>
          </a:p>
        </p:txBody>
      </p:sp>
      <p:sp>
        <p:nvSpPr>
          <p:cNvPr id="375" name="Google Shape;375;p13"/>
          <p:cNvSpPr txBox="1"/>
          <p:nvPr>
            <p:ph idx="1" type="body"/>
          </p:nvPr>
        </p:nvSpPr>
        <p:spPr>
          <a:xfrm>
            <a:off x="197375" y="2779450"/>
            <a:ext cx="35289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Certain mutations are strongly linked to breast cancer (e.g., BRCA1, BRCA2).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Identify specific cancer-related mutations.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lang="en" sz="1400"/>
              <a:t>Highly targeted and clinically actionable.</a:t>
            </a:r>
            <a:endParaRPr sz="1400"/>
          </a:p>
        </p:txBody>
      </p:sp>
      <p:sp>
        <p:nvSpPr>
          <p:cNvPr id="376" name="Google Shape;37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7" name="Google Shape;377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220" r="4219" t="0"/>
          <a:stretch/>
        </p:blipFill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78" name="Google Shape;378;p13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DNA &amp; Mutations</a:t>
            </a:r>
            <a:endParaRPr/>
          </a:p>
        </p:txBody>
      </p:sp>
      <p:sp>
        <p:nvSpPr>
          <p:cNvPr id="379" name="Google Shape;379;p1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Science Presentation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 txBox="1"/>
          <p:nvPr>
            <p:ph type="title"/>
          </p:nvPr>
        </p:nvSpPr>
        <p:spPr>
          <a:xfrm>
            <a:off x="275725" y="574113"/>
            <a:ext cx="86709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/>
              <a:t>Typical Workflow:</a:t>
            </a:r>
            <a:br>
              <a:rPr lang="en"/>
            </a:br>
            <a:r>
              <a:rPr lang="en"/>
              <a:t>Cancer Detection using DNA</a:t>
            </a:r>
            <a:endParaRPr/>
          </a:p>
        </p:txBody>
      </p:sp>
      <p:sp>
        <p:nvSpPr>
          <p:cNvPr id="385" name="Google Shape;385;p14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grpSp>
        <p:nvGrpSpPr>
          <p:cNvPr id="387" name="Google Shape;387;p14"/>
          <p:cNvGrpSpPr/>
          <p:nvPr/>
        </p:nvGrpSpPr>
        <p:grpSpPr>
          <a:xfrm>
            <a:off x="317499" y="1650576"/>
            <a:ext cx="3540628" cy="3210494"/>
            <a:chOff x="1293737" y="1258050"/>
            <a:chExt cx="2726286" cy="2547000"/>
          </a:xfrm>
        </p:grpSpPr>
        <p:sp>
          <p:nvSpPr>
            <p:cNvPr id="388" name="Google Shape;388;p14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942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200" u="none" cap="none" strike="noStrike">
                <a:solidFill>
                  <a:srgbClr val="0942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0" name="Google Shape;390;p14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Acquire Sample</a:t>
              </a:r>
              <a:endParaRPr b="1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1" name="Google Shape;391;p14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Char char="●"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Acquire the DNA Sample from blood sample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Char char="●"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Digitize the sample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2" name="Google Shape;392;p14"/>
          <p:cNvGrpSpPr/>
          <p:nvPr/>
        </p:nvGrpSpPr>
        <p:grpSpPr>
          <a:xfrm>
            <a:off x="2804664" y="1554523"/>
            <a:ext cx="3540630" cy="3210494"/>
            <a:chOff x="3203958" y="1258050"/>
            <a:chExt cx="2726287" cy="2547000"/>
          </a:xfrm>
        </p:grpSpPr>
        <p:sp>
          <p:nvSpPr>
            <p:cNvPr id="393" name="Google Shape;393;p14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D5CD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200" u="none" cap="none" strike="noStrike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5" name="Google Shape;395;p14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Detect Mutations</a:t>
              </a:r>
              <a:endParaRPr b="1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6" name="Google Shape;396;p14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Char char="●"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Process the raw file to detect the sequence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Char char="●"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Use available tools &amp; techniques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Char char="●"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Report the mutations in the sequence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7" name="Google Shape;397;p14"/>
          <p:cNvGrpSpPr/>
          <p:nvPr/>
        </p:nvGrpSpPr>
        <p:grpSpPr>
          <a:xfrm>
            <a:off x="5291831" y="1554523"/>
            <a:ext cx="3540628" cy="3210494"/>
            <a:chOff x="5123977" y="1258050"/>
            <a:chExt cx="2726286" cy="2547000"/>
          </a:xfrm>
        </p:grpSpPr>
        <p:sp>
          <p:nvSpPr>
            <p:cNvPr id="398" name="Google Shape;398;p14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307AF3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200" u="none" cap="none" strike="noStrike">
                <a:solidFill>
                  <a:srgbClr val="307A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0" name="Google Shape;400;p14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Make Prediction</a:t>
              </a:r>
              <a:endParaRPr b="1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1" name="Google Shape;401;p14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Char char="●"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Design intelligent algorithm to interpret the mutations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Char char="●"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 the probability of the disease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"/>
          <p:cNvSpPr txBox="1"/>
          <p:nvPr>
            <p:ph type="title"/>
          </p:nvPr>
        </p:nvSpPr>
        <p:spPr>
          <a:xfrm>
            <a:off x="275725" y="574120"/>
            <a:ext cx="8670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en"/>
              <a:t>Mutation Detection</a:t>
            </a:r>
            <a:endParaRPr/>
          </a:p>
        </p:txBody>
      </p:sp>
      <p:sp>
        <p:nvSpPr>
          <p:cNvPr id="407" name="Google Shape;407;p15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grpSp>
        <p:nvGrpSpPr>
          <p:cNvPr id="409" name="Google Shape;409;p15"/>
          <p:cNvGrpSpPr/>
          <p:nvPr/>
        </p:nvGrpSpPr>
        <p:grpSpPr>
          <a:xfrm>
            <a:off x="736025" y="1189989"/>
            <a:ext cx="2032117" cy="3217636"/>
            <a:chOff x="0" y="1189989"/>
            <a:chExt cx="2214600" cy="3217636"/>
          </a:xfrm>
        </p:grpSpPr>
        <p:sp>
          <p:nvSpPr>
            <p:cNvPr id="410" name="Google Shape;410;p15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Raw DNA Sequence Pre Processing</a:t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1" name="Google Shape;411;p15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Prepare raw DNA sequence data for analysis by quality control and alignment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2" name="Google Shape;412;p15"/>
          <p:cNvGrpSpPr/>
          <p:nvPr/>
        </p:nvGrpSpPr>
        <p:grpSpPr>
          <a:xfrm>
            <a:off x="2422872" y="1189775"/>
            <a:ext cx="1893926" cy="3217850"/>
            <a:chOff x="1838325" y="1189775"/>
            <a:chExt cx="2064000" cy="3217850"/>
          </a:xfrm>
        </p:grpSpPr>
        <p:sp>
          <p:nvSpPr>
            <p:cNvPr id="413" name="Google Shape;413;p15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Post Alignment Processing</a:t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4" name="Google Shape;414;p15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Refine the aligned data to ensure high accuracy in mutation detection.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5" name="Google Shape;415;p15"/>
          <p:cNvGrpSpPr/>
          <p:nvPr/>
        </p:nvGrpSpPr>
        <p:grpSpPr>
          <a:xfrm>
            <a:off x="3962995" y="1189775"/>
            <a:ext cx="1893926" cy="3217850"/>
            <a:chOff x="3516750" y="1189775"/>
            <a:chExt cx="2064000" cy="3217850"/>
          </a:xfrm>
        </p:grpSpPr>
        <p:sp>
          <p:nvSpPr>
            <p:cNvPr id="416" name="Google Shape;416;p15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Mutation Calling</a:t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7" name="Google Shape;417;p15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Detect variants (e.g., SNPs, insertions, deletions) in the DNA sequence.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8" name="Google Shape;418;p15"/>
          <p:cNvGrpSpPr/>
          <p:nvPr/>
        </p:nvGrpSpPr>
        <p:grpSpPr>
          <a:xfrm>
            <a:off x="7043630" y="1189775"/>
            <a:ext cx="1893926" cy="3217850"/>
            <a:chOff x="6874025" y="1189775"/>
            <a:chExt cx="2064000" cy="3217850"/>
          </a:xfrm>
        </p:grpSpPr>
        <p:sp>
          <p:nvSpPr>
            <p:cNvPr id="419" name="Google Shape;419;p15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Mutation Interpretation</a:t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0" name="Google Shape;420;p15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Analyze annotated mutations for relevance to breast cancer.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1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1" name="Google Shape;421;p15"/>
          <p:cNvGrpSpPr/>
          <p:nvPr/>
        </p:nvGrpSpPr>
        <p:grpSpPr>
          <a:xfrm>
            <a:off x="5503278" y="1189775"/>
            <a:ext cx="1893926" cy="3217850"/>
            <a:chOff x="5195350" y="1189775"/>
            <a:chExt cx="2064000" cy="3217850"/>
          </a:xfrm>
        </p:grpSpPr>
        <p:sp>
          <p:nvSpPr>
            <p:cNvPr id="422" name="Google Shape;422;p15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Variant Annotation</a:t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15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Annotate variants with biological and clinical significance.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424" name="Google Shape;424;p15"/>
          <p:cNvGraphicFramePr/>
          <p:nvPr/>
        </p:nvGraphicFramePr>
        <p:xfrm>
          <a:off x="196950" y="31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{3AB99AE7-CA2E-4393-958D-D88E613C12B0}</a:tableStyleId>
              </a:tblPr>
              <a:tblGrid>
                <a:gridCol w="813300"/>
                <a:gridCol w="1563100"/>
                <a:gridCol w="1599125"/>
                <a:gridCol w="1569000"/>
                <a:gridCol w="1540250"/>
                <a:gridCol w="1664850"/>
              </a:tblGrid>
              <a:tr h="47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/>
                        <a:t>Output</a:t>
                      </a:r>
                      <a:endParaRPr b="1"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BAM File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Refined BAM File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Variant Call Format (VCF) file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Annotated VCF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Actionable mutations 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4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/>
                        <a:t>Tools</a:t>
                      </a:r>
                      <a:endParaRPr b="1"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FASTQC, BWA-MEM, 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SAMTools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Picard, GATK Base Recalibrator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GATK HaplotypeCaller, GATK VariantFiltration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Annovar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ClinVar, COSMIC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/>
                        <a:t>Steps</a:t>
                      </a:r>
                      <a:endParaRPr b="1"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Quality Control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Alignment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 to BAM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 Duplicates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 Quality Score Recalibration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Variant Calling</a:t>
                      </a:r>
                      <a:endParaRPr sz="1000" u="none" cap="none" strike="noStrike">
                        <a:solidFill>
                          <a:schemeClr val="hlink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Variant Filtering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Annotation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Variant Prioritization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1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31" name="Google Shape;431;p16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516424" y="1584300"/>
            <a:ext cx="7545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Cancer Prediction Techniques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DNA &amp; Mutations</a:t>
            </a:r>
            <a:endParaRPr b="1" i="0" sz="36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5" name="Google Shape;435;p16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1" i="0" lang="en" sz="36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Progress So Far</a:t>
            </a:r>
            <a:endParaRPr b="1" i="0" sz="36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7" name="Google Shape;437;p16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B7B7B7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i="0" sz="1450" u="none" cap="none" strike="noStrike">
              <a:solidFill>
                <a:srgbClr val="B7B7B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i="0" sz="1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File:VMware Workstation 11.0 icon.png - Wikipedia" id="446" name="Google Shape;4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600" y="562825"/>
            <a:ext cx="1967350" cy="1652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Screenshot Desktop Ubuntu 20.04 Focal Fossa 2160p.png ..." id="447" name="Google Shape;4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5076" y="562825"/>
            <a:ext cx="3497498" cy="1652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" name="Google Shape;448;p17"/>
          <p:cNvCxnSpPr/>
          <p:nvPr/>
        </p:nvCxnSpPr>
        <p:spPr>
          <a:xfrm flipH="1" rot="10800000">
            <a:off x="296550" y="2542950"/>
            <a:ext cx="8550900" cy="57600"/>
          </a:xfrm>
          <a:prstGeom prst="straightConnector1">
            <a:avLst/>
          </a:prstGeom>
          <a:noFill/>
          <a:ln cap="flat" cmpd="sng" w="381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449" name="Google Shape;449;p17"/>
          <p:cNvSpPr/>
          <p:nvPr/>
        </p:nvSpPr>
        <p:spPr>
          <a:xfrm>
            <a:off x="294463" y="3056388"/>
            <a:ext cx="1552200" cy="165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SAM Tools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2045181" y="3056388"/>
            <a:ext cx="1552200" cy="165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BWA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3795900" y="3056388"/>
            <a:ext cx="1552200" cy="165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Picard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5546619" y="3056388"/>
            <a:ext cx="1552200" cy="165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Genome Analysis Toolkit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7297338" y="3056388"/>
            <a:ext cx="1552200" cy="165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Integrative Genomics Viewer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id="460" name="Google Shape;460;p18"/>
          <p:cNvPicPr preferRelativeResize="0"/>
          <p:nvPr/>
        </p:nvPicPr>
        <p:blipFill rotWithShape="1">
          <a:blip r:embed="rId3">
            <a:alphaModFix/>
          </a:blip>
          <a:srcRect b="7732" l="0" r="0" t="7742"/>
          <a:stretch/>
        </p:blipFill>
        <p:spPr>
          <a:xfrm>
            <a:off x="152400" y="76200"/>
            <a:ext cx="8868624" cy="4991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